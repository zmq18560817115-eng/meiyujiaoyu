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建议用时：30秒。教师请学生先观察画面中的白兔和院落，不立即解释灵芝草。插图为AI生成的故事情境图，仅用于课堂导入；传统纹样依据用户提供《纹样.docx》图9-023。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累计时间：2分钟。教师只引导观察，不公布完整寓意。鼓励学生从长耳朵、短尾巴、圆润身体和动态姿势识别兔子。来源：用户提供《纹样.docx》，图9-023“兔含灵芝草、含香草”。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5分钟。教师或AI朗读故事，读到“小白兔衔着灵芝草”时暂停，邀请学生猜测它想送来什么祝福。完整讲解语：画师把小兔和灵芝草一起画进民居彩画，让动物形象承载健康、平安与美好生活的愿望。故事为教学化改编，情境插图为AI生成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6分30秒。教师依次指出兔子、灵芝草与外围卷草纹。表述应保持适度：兔子在本课中引导为温和、灵巧与生命力；灵芝草在传统装饰中常与健康、吉祥和长寿愿望相关；卷草纹负责连接与装饰。来源：用户提供《纹样.docx》图9-023；寓意解释采用传统吉祥图案的一般文化语境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累计时间：8分钟。教师用“主人公、礼物、连接画面的线”帮助学生理解组合逻辑。强调传统纹样并非孤立地画动物，而是通过动物、植物和装饰线条共同表达祝愿。来源：用户提供《纹样.docx》图9-023。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累计时间：8分30秒。教师快速发布任务，不逐条展开解释。微课作品以线描为主，避免复杂上色挤占时间。学生可从“平安、健康、快乐、成长、团圆”中选择一个祝福主题。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累计时间：13分30秒。教师巡回指导。困难学生只需完成一只小兔加一株植物；进度快的学生可添加花卉或卷草纹。提醒学生保留空白，不必涂满画面。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累计时间：14分30秒。邀请1至2名学生使用句式介绍作品。教师用“造型、组合、寓意”三个维度快速反馈，优先肯定学生把传统图案转化为个人祝福的尝试。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累计时间：15分钟。教师总结：白族民居彩绘通过动物、植物和装饰线条表达美好愿望。兔子衔着灵芝草，使图案从单纯的动物形象变成一幅带有情节和祝福的纹样。来源：用户提供《纹样.docx》图9-023。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7343B">
              <a:alpha val="83922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8001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500" b="1">
                <a:solidFill>
                  <a:srgbClr val="E8CA7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E8CA7C"/>
                </a:solidFill>
                <a:latin typeface="Noto Sans CJK SC"/>
                <a:ea typeface="Noto Sans CJK SC"/>
                <a:cs typeface="Noto Sans CJK SC"/>
              </a:rPr>
              <a:t>白族民居彩绘纹样微课</a:t>
            </a:r>
            <a:endParaRPr sz="1500" b="1">
              <a:solidFill>
                <a:srgbClr val="E8CA7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66850"/>
            <a:ext cx="447675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小白兔衔来的祝福</a:t>
            </a:r>
            <a:endParaRPr sz="37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028950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认识“兔含灵芝草”纹样</a:t>
            </a:r>
            <a:endParaRPr sz="21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790950"/>
            <a:ext cx="800100" cy="47625"/>
          </a:xfrm>
          <a:prstGeom prst="rect">
            <a:avLst/>
          </a:prstGeom>
          <a:solidFill>
            <a:srgbClr val="C65F4B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4114800"/>
            <a:ext cx="3810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650" b="0">
                <a:solidFill>
                  <a:srgbClr val="EAF2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EAF2EF"/>
                </a:solidFill>
                <a:latin typeface="Noto Sans CJK SC"/>
                <a:ea typeface="Noto Sans CJK SC"/>
                <a:cs typeface="Noto Sans CJK SC"/>
              </a:rPr>
              <a:t>小学三至五年级  15分钟</a:t>
            </a:r>
            <a:endParaRPr sz="1650" b="0">
              <a:solidFill>
                <a:srgbClr val="EAF2E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485775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看纹样  听故事  画祝福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纹样里藏着什么？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观察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0" y="15240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2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找一找</a:t>
            </a:r>
            <a:endParaRPr sz="22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20050" y="22098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255F78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20050" y="22098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2171700"/>
            <a:ext cx="2781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 fontScale="97590"/>
          </a:bodyPr>
          <a:lstStyle/>
          <a:p>
            <a:pPr algn="l">
              <a:def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哪一只动物最先被你发现？</a:t>
            </a:r>
            <a:endParaRPr sz="18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20050" y="32766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C65F4B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20050" y="32766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5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3238500"/>
            <a:ext cx="2781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哪几个是小兔子</a:t>
            </a:r>
            <a:r>
              <a: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？</a:t>
            </a:r>
            <a:endParaRPr sz="18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20050" y="43434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389E66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20050" y="43434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5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648700" y="4305300"/>
            <a:ext cx="2781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小兔嘴里衔着什么？</a:t>
            </a:r>
            <a:endParaRPr sz="18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38088"/>
          <a:stretch>
            <a:fillRect/>
          </a:stretch>
        </p:blipFill>
        <p:spPr>
          <a:xfrm>
            <a:off x="1487170" y="1125220"/>
            <a:ext cx="5840730" cy="20078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2956" r="6749"/>
          <a:stretch>
            <a:fillRect/>
          </a:stretch>
        </p:blipFill>
        <p:spPr>
          <a:xfrm>
            <a:off x="1487170" y="2990215"/>
            <a:ext cx="5839460" cy="17335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1007" r="6353" b="57183"/>
          <a:stretch>
            <a:fillRect/>
          </a:stretch>
        </p:blipFill>
        <p:spPr>
          <a:xfrm>
            <a:off x="1487170" y="4723765"/>
            <a:ext cx="5840730" cy="1600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590550" y="666750"/>
            <a:ext cx="5095875" cy="3857625"/>
          </a:xfrm>
          <a:prstGeom prst="roundRect">
            <a:avLst>
              <a:gd name="adj" fmla="val 6914"/>
            </a:avLst>
          </a:prstGeom>
          <a:solidFill>
            <a:srgbClr val="FFFFFF">
              <a:alpha val="90980"/>
            </a:srgbClr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95350" y="914400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小白兔衔来的祝福</a:t>
            </a:r>
            <a:endParaRPr sz="240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1581150"/>
            <a:ext cx="4333875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一座白族院子准备绘制新的彩画。</a:t>
            </a:r>
            <a:endParaRPr sz="187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  <a:p>
            <a:endParaRPr sz="1875"/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一天，一只小白兔从山坡跑来，嘴里衔着一株特别的灵芝草。</a:t>
            </a:r>
            <a:endParaRPr sz="187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  <a:p>
            <a:endParaRPr sz="1875"/>
          </a:p>
          <a:p>
            <a:pPr algn="l">
              <a:lnSpc>
                <a:spcPct val="108000"/>
              </a:lnSpc>
              <a:buNone/>
              <a:def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它说：“请把这份祝福画在墙上。”</a:t>
            </a:r>
            <a:endParaRPr sz="187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572250" y="5410200"/>
            <a:ext cx="4857750" cy="838200"/>
          </a:xfrm>
          <a:prstGeom prst="roundRect">
            <a:avLst>
              <a:gd name="adj" fmla="val 25000"/>
            </a:avLst>
          </a:prstGeom>
          <a:solidFill>
            <a:srgbClr val="17343B">
              <a:alpha val="90196"/>
            </a:srgbClr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0" y="5562600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为什么小兔要衔着灵芝草？</a:t>
            </a:r>
            <a:endParaRPr sz="2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兔子为什么和灵芝草画在一起？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解码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t="16640" b="16640"/>
          <a:stretch>
            <a:fillRect/>
          </a:stretch>
        </p:blipFill>
        <p:spPr>
          <a:xfrm>
            <a:off x="666750" y="1352550"/>
            <a:ext cx="4953000" cy="4524375"/>
          </a:xfrm>
          <a:prstGeom prst="roundRect">
            <a:avLst>
              <a:gd name="adj" fmla="val 4632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191250" y="1447800"/>
            <a:ext cx="5143500" cy="1200150"/>
          </a:xfrm>
          <a:prstGeom prst="roundRect">
            <a:avLst>
              <a:gd name="adj" fmla="val 17460"/>
            </a:avLst>
          </a:prstGeom>
          <a:solidFill>
            <a:srgbClr val="E7F0E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1619250"/>
            <a:ext cx="1285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72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rPr>
              <a:t>兔子</a:t>
            </a:r>
            <a:endParaRPr sz="1725" b="1">
              <a:solidFill>
                <a:srgbClr val="255F7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57950" y="2000250"/>
            <a:ext cx="4514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 fontScale="87121"/>
          </a:bodyPr>
          <a:lstStyle/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长耳、短尾、圆润身体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给人温和、灵巧的感受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91250" y="2914650"/>
            <a:ext cx="5143500" cy="1200150"/>
          </a:xfrm>
          <a:prstGeom prst="roundRect">
            <a:avLst>
              <a:gd name="adj" fmla="val 17460"/>
            </a:avLst>
          </a:prstGeom>
          <a:solidFill>
            <a:srgbClr val="F3E0D5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57950" y="3086100"/>
            <a:ext cx="1285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72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灵芝草</a:t>
            </a:r>
            <a:endParaRPr sz="1725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57950" y="3467100"/>
            <a:ext cx="4514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 fontScale="87121"/>
          </a:bodyPr>
          <a:lstStyle/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弯曲如意的植物外形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常用来寄托健康与吉祥愿望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191250" y="4381500"/>
            <a:ext cx="5143500" cy="1200150"/>
          </a:xfrm>
          <a:prstGeom prst="roundRect">
            <a:avLst>
              <a:gd name="adj" fmla="val 17460"/>
            </a:avLst>
          </a:prstGeom>
          <a:solidFill>
            <a:srgbClr val="DDEBDD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457950" y="4552950"/>
            <a:ext cx="1285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72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rPr>
              <a:t>卷草纹</a:t>
            </a:r>
            <a:endParaRPr sz="1725" b="1">
              <a:solidFill>
                <a:srgbClr val="389E6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57950" y="4933950"/>
            <a:ext cx="4514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 fontScale="87121"/>
          </a:bodyPr>
          <a:lstStyle/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连续生长、向外卷曲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把兔子和植物连接起来</a:t>
            </a:r>
            <a:endParaRPr sz="16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一幅纹样怎样讲出祝福？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拆解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0" y="1504950"/>
            <a:ext cx="1476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57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rPr>
              <a:t>主人公</a:t>
            </a:r>
            <a:endParaRPr sz="1575" b="1">
              <a:solidFill>
                <a:srgbClr val="255F7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0" y="188595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小兔</a:t>
            </a:r>
            <a:endParaRPr sz="24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0" y="278130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5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带来的礼物</a:t>
            </a:r>
            <a:endParaRPr sz="1575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0" y="316230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2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灵芝草或香草</a:t>
            </a:r>
            <a:endParaRPr sz="22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40576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57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rPr>
              <a:t>连接画面的线</a:t>
            </a:r>
            <a:endParaRPr sz="1575" b="1">
              <a:solidFill>
                <a:srgbClr val="389E6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0" y="443865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2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卷草纹与花卉</a:t>
            </a:r>
            <a:endParaRPr sz="22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524750" y="5257800"/>
            <a:ext cx="3810000" cy="609600"/>
          </a:xfrm>
          <a:prstGeom prst="roundRect">
            <a:avLst>
              <a:gd name="adj" fmla="val 28125"/>
            </a:avLst>
          </a:prstGeom>
          <a:solidFill>
            <a:srgbClr val="F1E7D8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34300" y="5353050"/>
            <a:ext cx="3390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组合起来，图案就有了故事</a:t>
            </a:r>
            <a:endParaRPr sz="172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53769"/>
          <a:stretch>
            <a:fillRect/>
          </a:stretch>
        </p:blipFill>
        <p:spPr>
          <a:xfrm>
            <a:off x="1199515" y="920115"/>
            <a:ext cx="5113020" cy="2832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51257"/>
          <a:stretch>
            <a:fillRect/>
          </a:stretch>
        </p:blipFill>
        <p:spPr>
          <a:xfrm>
            <a:off x="1199515" y="3752215"/>
            <a:ext cx="5113020" cy="2986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创作一只“祝福小兔”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任务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52400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8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今天的小作品</a:t>
            </a:r>
            <a:endParaRPr sz="180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000250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8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一张祝福纹样卡</a:t>
            </a:r>
            <a:endParaRPr sz="28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72415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725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黑色线描加一种重点色即可</a:t>
            </a:r>
            <a:endParaRPr sz="1725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143500" y="1390650"/>
            <a:ext cx="38100" cy="3714750"/>
          </a:xfrm>
          <a:prstGeom prst="rect">
            <a:avLst/>
          </a:prstGeom>
          <a:solidFill>
            <a:srgbClr val="F3E0D5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715000" y="14287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5F78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715000" y="142875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7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1419225"/>
            <a:ext cx="4572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画出长耳朵和短尾巴</a:t>
            </a:r>
            <a:endParaRPr sz="19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715000" y="24003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C65F4B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715000" y="240030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7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2390775"/>
            <a:ext cx="4572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让小兔衔着一种祝福植物</a:t>
            </a:r>
            <a:endParaRPr sz="19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715000" y="33718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89E66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15000" y="337185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7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3362325"/>
            <a:ext cx="4572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加入卷草纹、云纹或花朵</a:t>
            </a:r>
            <a:endParaRPr sz="19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715000" y="43434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D2A24C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715000" y="434340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17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4333875"/>
            <a:ext cx="4572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写下一个祝福词</a:t>
            </a:r>
            <a:endParaRPr sz="19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0100" y="4572000"/>
            <a:ext cx="3714750" cy="685800"/>
          </a:xfrm>
          <a:prstGeom prst="roundRect">
            <a:avLst>
              <a:gd name="adj" fmla="val 25000"/>
            </a:avLst>
          </a:prstGeom>
          <a:solidFill>
            <a:srgbClr val="255F78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686300"/>
            <a:ext cx="376618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平安  健康  快乐  成长  团圆</a:t>
            </a:r>
            <a:endParaRPr sz="16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5分钟完成祝福纹样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创作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581150"/>
            <a:ext cx="2476500" cy="3333750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0">
            <a:noFill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524000" y="1885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255F78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1885950"/>
            <a:ext cx="80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27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3028950"/>
            <a:ext cx="1943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画小兔</a:t>
            </a:r>
            <a:endParaRPr sz="21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676650"/>
            <a:ext cx="1943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长耳朵、圆身体、短尾巴</a:t>
            </a:r>
            <a:endParaRPr sz="165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524250" y="1581150"/>
            <a:ext cx="2476500" cy="3333750"/>
          </a:xfrm>
          <a:prstGeom prst="roundRect">
            <a:avLst>
              <a:gd name="adj" fmla="val 10000"/>
            </a:avLst>
          </a:prstGeom>
          <a:solidFill>
            <a:srgbClr val="F4E7D9"/>
          </a:solidFill>
          <a:ln w="0">
            <a:noFill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362450" y="1885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C65F4B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62450" y="1885950"/>
            <a:ext cx="80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27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90950" y="3028950"/>
            <a:ext cx="1943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定动作</a:t>
            </a:r>
            <a:endParaRPr sz="21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90950" y="3676650"/>
            <a:ext cx="1943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奔跑、跳跃、回头或伏卧</a:t>
            </a:r>
            <a:endParaRPr sz="165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62700" y="1581150"/>
            <a:ext cx="2476500" cy="3333750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00900" y="1885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389E66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00900" y="1885950"/>
            <a:ext cx="80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27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29400" y="3028950"/>
            <a:ext cx="1943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添植物</a:t>
            </a:r>
            <a:endParaRPr sz="21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29400" y="3676650"/>
            <a:ext cx="1943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让小兔衔着一份祝福</a:t>
            </a:r>
            <a:endParaRPr sz="165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201150" y="1581150"/>
            <a:ext cx="2476500" cy="3333750"/>
          </a:xfrm>
          <a:prstGeom prst="roundRect">
            <a:avLst>
              <a:gd name="adj" fmla="val 10000"/>
            </a:avLst>
          </a:prstGeom>
          <a:solidFill>
            <a:srgbClr val="F4E7D9"/>
          </a:solidFill>
          <a:ln w="0">
            <a:noFill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039350" y="18859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D2A24C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039350" y="1885950"/>
            <a:ext cx="80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27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67850" y="3028950"/>
            <a:ext cx="1943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加纹样</a:t>
            </a:r>
            <a:endParaRPr sz="210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67850" y="3676650"/>
            <a:ext cx="1943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用卷草纹或花朵围合画面</a:t>
            </a:r>
            <a:endParaRPr sz="165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29000" y="5429250"/>
            <a:ext cx="533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1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先画清楚，再添装饰</a:t>
            </a:r>
            <a:endParaRPr sz="210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8100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用一句话介绍作品</a:t>
            </a:r>
            <a:endParaRPr sz="2550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96500" y="4572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def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分享  </a:t>
            </a:r>
            <a:endParaRPr sz="1350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246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 fontScale="93750"/>
          </a:bodyPr>
          <a:lstStyle/>
          <a:p>
            <a:pPr algn="r">
              <a:def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2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5811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我画的是一只</a:t>
            </a:r>
            <a:endParaRPr sz="21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143250" y="1562100"/>
            <a:ext cx="3810000" cy="533400"/>
          </a:xfrm>
          <a:prstGeom prst="roundRect">
            <a:avLst>
              <a:gd name="adj" fmla="val 25000"/>
            </a:avLst>
          </a:prstGeom>
          <a:solidFill>
            <a:srgbClr val="E7F0E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33750" y="1609725"/>
            <a:ext cx="342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7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55F78"/>
                </a:solidFill>
                <a:latin typeface="Noto Sans CJK SC"/>
                <a:ea typeface="Noto Sans CJK SC"/>
                <a:cs typeface="Noto Sans CJK SC"/>
              </a:rPr>
              <a:t>__________的小兔</a:t>
            </a:r>
            <a:endParaRPr sz="2175" b="1">
              <a:solidFill>
                <a:srgbClr val="255F7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6670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它衔着</a:t>
            </a:r>
            <a:endParaRPr sz="21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152650" y="2647950"/>
            <a:ext cx="3429000" cy="533400"/>
          </a:xfrm>
          <a:prstGeom prst="roundRect">
            <a:avLst>
              <a:gd name="adj" fmla="val 25000"/>
            </a:avLst>
          </a:prstGeom>
          <a:solidFill>
            <a:srgbClr val="F3E0D5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26955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__________</a:t>
            </a:r>
            <a:endParaRPr sz="2175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10250" y="2667000"/>
            <a:ext cx="104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87B7D"/>
                </a:solidFill>
                <a:latin typeface="Noto Sans CJK SC"/>
                <a:ea typeface="Noto Sans CJK SC"/>
                <a:cs typeface="Noto Sans CJK SC"/>
              </a:rPr>
              <a:t>代表</a:t>
            </a:r>
            <a:endParaRPr sz="2100" b="0">
              <a:solidFill>
                <a:srgbClr val="687B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953250" y="2647950"/>
            <a:ext cx="4381500" cy="533400"/>
          </a:xfrm>
          <a:prstGeom prst="roundRect">
            <a:avLst>
              <a:gd name="adj" fmla="val 25000"/>
            </a:avLst>
          </a:prstGeom>
          <a:solidFill>
            <a:srgbClr val="DDEBDD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43750" y="26955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7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89E66"/>
                </a:solidFill>
                <a:latin typeface="Noto Sans CJK SC"/>
                <a:ea typeface="Noto Sans CJK SC"/>
                <a:cs typeface="Noto Sans CJK SC"/>
              </a:rPr>
              <a:t>________________</a:t>
            </a:r>
            <a:endParaRPr sz="2175" b="1">
              <a:solidFill>
                <a:srgbClr val="389E6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390525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8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65F4B"/>
                </a:solidFill>
                <a:latin typeface="Noto Sans CJK SC"/>
                <a:ea typeface="Noto Sans CJK SC"/>
                <a:cs typeface="Noto Sans CJK SC"/>
              </a:rPr>
              <a:t>快速评价</a:t>
            </a:r>
            <a:endParaRPr sz="1875" b="1">
              <a:solidFill>
                <a:srgbClr val="C65F4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0100" y="4533900"/>
            <a:ext cx="3238500" cy="723900"/>
          </a:xfrm>
          <a:prstGeom prst="roundRect">
            <a:avLst>
              <a:gd name="adj" fmla="val 23684"/>
            </a:avLst>
          </a:prstGeom>
          <a:solidFill>
            <a:srgbClr val="E7F0E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46482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像不像一只兔子？</a:t>
            </a:r>
            <a:endParaRPr sz="172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419600" y="4533900"/>
            <a:ext cx="3238500" cy="723900"/>
          </a:xfrm>
          <a:prstGeom prst="roundRect">
            <a:avLst>
              <a:gd name="adj" fmla="val 23684"/>
            </a:avLst>
          </a:prstGeom>
          <a:solidFill>
            <a:srgbClr val="F3E0D5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10100" y="46482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兔子与植物有没有联系？</a:t>
            </a:r>
            <a:endParaRPr sz="172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039100" y="4533900"/>
            <a:ext cx="3238500" cy="723900"/>
          </a:xfrm>
          <a:prstGeom prst="roundRect">
            <a:avLst>
              <a:gd name="adj" fmla="val 23684"/>
            </a:avLst>
          </a:prstGeom>
          <a:solidFill>
            <a:srgbClr val="DDEBDD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29600" y="46482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1363B"/>
                </a:solidFill>
                <a:latin typeface="Noto Sans CJK SC"/>
                <a:ea typeface="Noto Sans CJK SC"/>
                <a:cs typeface="Noto Sans CJK SC"/>
              </a:rPr>
              <a:t>能不能说清祝福的含义？</a:t>
            </a:r>
            <a:endParaRPr sz="1725" b="1">
              <a:solidFill>
                <a:srgbClr val="21363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5F7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971550"/>
            <a:ext cx="1219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800" b="0">
                <a:solidFill>
                  <a:srgbClr val="DD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DDE9E6"/>
                </a:solidFill>
                <a:latin typeface="Noto Sans CJK SC"/>
                <a:ea typeface="Noto Sans CJK SC"/>
                <a:cs typeface="Noto Sans CJK SC"/>
              </a:rPr>
              <a:t>今天，我们认识了</a:t>
            </a:r>
            <a:endParaRPr sz="1800" b="0">
              <a:solidFill>
                <a:srgbClr val="DDE9E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1695450"/>
            <a:ext cx="9525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兔含灵芝草纹样</a:t>
            </a:r>
            <a:endParaRPr sz="36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8750" y="2781300"/>
            <a:ext cx="9334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550" b="1">
                <a:solidFill>
                  <a:srgbClr val="F0D59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0D594"/>
                </a:solidFill>
                <a:latin typeface="Noto Sans CJK SC"/>
                <a:ea typeface="Noto Sans CJK SC"/>
                <a:cs typeface="Noto Sans CJK SC"/>
              </a:rPr>
              <a:t>兔子带来祝福，植物说出愿望</a:t>
            </a:r>
            <a:endParaRPr sz="2550" b="1">
              <a:solidFill>
                <a:srgbClr val="F0D59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3857625"/>
            <a:ext cx="6477000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4400550"/>
            <a:ext cx="9334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传统纹样像一封没有文字的祝福信</a:t>
            </a:r>
            <a:endParaRPr sz="23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5543550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950" b="0">
                <a:solidFill>
                  <a:srgbClr val="DDE9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DDE9E6"/>
                </a:solidFill>
                <a:latin typeface="Noto Sans CJK SC"/>
                <a:ea typeface="Noto Sans CJK SC"/>
                <a:cs typeface="Noto Sans CJK SC"/>
              </a:rPr>
              <a:t>把想送出的祝福，画进自己的纹样里</a:t>
            </a:r>
            <a:endParaRPr sz="1950" b="0">
              <a:solidFill>
                <a:srgbClr val="DDE9E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2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3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4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5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6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7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8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ags/tag9.xml><?xml version="1.0" encoding="utf-8"?>
<p:tagLst xmlns:p="http://schemas.openxmlformats.org/presentationml/2006/main">
  <p:tag name="KSO_WM_DIAGRAM_VIRTUALLY_FRAME" val="{&quot;height&quot;:325.5,&quot;left&quot;:487.5,&quot;top&quot;:114,&quot;width&quot;:40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WPS 演示</Application>
  <PresentationFormat>Converted Presentation</PresentationFormat>
  <Paragraphs>179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Noto Sans CJK SC</vt:lpstr>
      <vt:lpstr>AMGDT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WPS_1226069339</cp:lastModifiedBy>
  <cp:revision>2</cp:revision>
  <dcterms:created xsi:type="dcterms:W3CDTF">2026-09-20T16:21:27Z</dcterms:created>
  <dcterms:modified xsi:type="dcterms:W3CDTF">2026-09-20T16:32:45Z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34AE57230F9E46F58C6657C66AB2D3BB_12</vt:lpwstr>
  </property>
  <property fmtid="{D5CDD505-2E9C-101B-9397-08002B2CF9AE}" pid="3" name="KSOProductBuildVer">
    <vt:lpwstr>2052-12.1.0.28505</vt:lpwstr>
  </property>
</Properties>
</file>